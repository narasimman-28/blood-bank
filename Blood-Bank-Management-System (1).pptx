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7170" y="4872814"/>
            <a:ext cx="1015419" cy="1969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50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3759" y="1566113"/>
            <a:ext cx="4165600" cy="88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C0D0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913759" y="2662548"/>
            <a:ext cx="4498975" cy="858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4565A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C0D0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4565A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C0D0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C0D0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57170" y="4872814"/>
            <a:ext cx="1015419" cy="1969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514" y="756285"/>
            <a:ext cx="5782919" cy="709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C0D0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14" y="1669938"/>
            <a:ext cx="4594860" cy="1532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4565A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90"/>
              </a:spcBef>
            </a:pPr>
            <a:r>
              <a:rPr dirty="0" sz="2750" spc="130"/>
              <a:t>Blood</a:t>
            </a:r>
            <a:r>
              <a:rPr dirty="0" sz="2750" spc="-100"/>
              <a:t> </a:t>
            </a:r>
            <a:r>
              <a:rPr dirty="0" sz="2750" spc="125"/>
              <a:t>Bank</a:t>
            </a:r>
            <a:r>
              <a:rPr dirty="0" sz="2750" spc="-105"/>
              <a:t> </a:t>
            </a:r>
            <a:r>
              <a:rPr dirty="0" sz="2750" spc="114"/>
              <a:t>Management </a:t>
            </a:r>
            <a:r>
              <a:rPr dirty="0" sz="2750" spc="135"/>
              <a:t>System</a:t>
            </a:r>
            <a:endParaRPr sz="27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/>
              <a:t>Frontend:</a:t>
            </a:r>
            <a:r>
              <a:rPr dirty="0" spc="15"/>
              <a:t> </a:t>
            </a:r>
            <a:r>
              <a:rPr dirty="0" spc="-40"/>
              <a:t>HTML,</a:t>
            </a:r>
            <a:r>
              <a:rPr dirty="0" spc="5"/>
              <a:t> </a:t>
            </a:r>
            <a:r>
              <a:rPr dirty="0" spc="-50"/>
              <a:t>CSS,</a:t>
            </a:r>
            <a:r>
              <a:rPr dirty="0" spc="35"/>
              <a:t> </a:t>
            </a:r>
            <a:r>
              <a:rPr dirty="0"/>
              <a:t>Bootstrap,</a:t>
            </a:r>
            <a:r>
              <a:rPr dirty="0" spc="5"/>
              <a:t> </a:t>
            </a:r>
            <a:r>
              <a:rPr dirty="0"/>
              <a:t>React</a:t>
            </a:r>
            <a:r>
              <a:rPr dirty="0" spc="-5"/>
              <a:t> </a:t>
            </a:r>
            <a:r>
              <a:rPr dirty="0" spc="-60"/>
              <a:t>·</a:t>
            </a:r>
            <a:r>
              <a:rPr dirty="0" spc="30"/>
              <a:t> </a:t>
            </a:r>
            <a:r>
              <a:rPr dirty="0"/>
              <a:t>Backend:</a:t>
            </a:r>
            <a:r>
              <a:rPr dirty="0" spc="-15"/>
              <a:t> </a:t>
            </a:r>
            <a:r>
              <a:rPr dirty="0" spc="-10"/>
              <a:t>Java</a:t>
            </a:r>
            <a:r>
              <a:rPr dirty="0" spc="60"/>
              <a:t> </a:t>
            </a:r>
            <a:r>
              <a:rPr dirty="0"/>
              <a:t>+</a:t>
            </a:r>
            <a:r>
              <a:rPr dirty="0" spc="25"/>
              <a:t> </a:t>
            </a:r>
            <a:r>
              <a:rPr dirty="0"/>
              <a:t>Spring Boot</a:t>
            </a:r>
            <a:r>
              <a:rPr dirty="0" spc="30"/>
              <a:t> </a:t>
            </a:r>
            <a:r>
              <a:rPr dirty="0" spc="-50"/>
              <a:t>·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10"/>
              <a:t>Database:</a:t>
            </a:r>
            <a:r>
              <a:rPr dirty="0" spc="-35"/>
              <a:t> </a:t>
            </a:r>
            <a:r>
              <a:rPr dirty="0" spc="-20"/>
              <a:t>MySQL</a:t>
            </a:r>
          </a:p>
          <a:p>
            <a:pPr>
              <a:lnSpc>
                <a:spcPct val="100000"/>
              </a:lnSpc>
              <a:spcBef>
                <a:spcPts val="48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Extras:</a:t>
            </a:r>
            <a:r>
              <a:rPr dirty="0" spc="-65"/>
              <a:t> </a:t>
            </a:r>
            <a:r>
              <a:rPr dirty="0" spc="-35"/>
              <a:t>JWT</a:t>
            </a:r>
            <a:r>
              <a:rPr dirty="0" spc="-25"/>
              <a:t> </a:t>
            </a:r>
            <a:r>
              <a:rPr dirty="0" spc="50"/>
              <a:t>auth</a:t>
            </a:r>
            <a:r>
              <a:rPr dirty="0" spc="-50"/>
              <a:t> </a:t>
            </a:r>
            <a:r>
              <a:rPr dirty="0" spc="-60"/>
              <a:t>·</a:t>
            </a:r>
            <a:r>
              <a:rPr dirty="0" spc="-20"/>
              <a:t> </a:t>
            </a:r>
            <a:r>
              <a:rPr dirty="0" spc="-85"/>
              <a:t>REST</a:t>
            </a:r>
            <a:r>
              <a:rPr dirty="0" spc="-55"/>
              <a:t> </a:t>
            </a:r>
            <a:r>
              <a:rPr dirty="0" spc="-40"/>
              <a:t>APIs</a:t>
            </a:r>
            <a:r>
              <a:rPr dirty="0" spc="-45"/>
              <a:t> </a:t>
            </a:r>
            <a:r>
              <a:rPr dirty="0" spc="-60"/>
              <a:t>·</a:t>
            </a:r>
            <a:r>
              <a:rPr dirty="0" spc="-20"/>
              <a:t> </a:t>
            </a:r>
            <a:r>
              <a:rPr dirty="0"/>
              <a:t>Google</a:t>
            </a:r>
            <a:r>
              <a:rPr dirty="0" spc="-35"/>
              <a:t> </a:t>
            </a:r>
            <a:r>
              <a:rPr dirty="0"/>
              <a:t>Maps</a:t>
            </a:r>
            <a:r>
              <a:rPr dirty="0" spc="-45"/>
              <a:t> </a:t>
            </a:r>
            <a:r>
              <a:rPr dirty="0" spc="-60"/>
              <a:t>·</a:t>
            </a:r>
            <a:r>
              <a:rPr dirty="0" spc="-20"/>
              <a:t> </a:t>
            </a:r>
            <a:r>
              <a:rPr dirty="0"/>
              <a:t>Cloud</a:t>
            </a:r>
            <a:r>
              <a:rPr dirty="0" spc="-50"/>
              <a:t> </a:t>
            </a:r>
            <a:r>
              <a:rPr dirty="0" spc="-10"/>
              <a:t>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5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80" rIns="0" bIns="0" rtlCol="0" vert="horz">
            <a:spAutoFit/>
          </a:bodyPr>
          <a:lstStyle/>
          <a:p>
            <a:pPr marL="3442335">
              <a:lnSpc>
                <a:spcPct val="100000"/>
              </a:lnSpc>
              <a:spcBef>
                <a:spcPts val="110"/>
              </a:spcBef>
            </a:pPr>
            <a:r>
              <a:rPr dirty="0" spc="95"/>
              <a:t>The</a:t>
            </a:r>
            <a:r>
              <a:rPr dirty="0" spc="-60"/>
              <a:t> </a:t>
            </a:r>
            <a:r>
              <a:rPr dirty="0" spc="9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13759" y="1666697"/>
            <a:ext cx="33045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Blood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must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be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found</a:t>
            </a:r>
            <a:r>
              <a:rPr dirty="0" sz="1100" spc="-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54565A"/>
                </a:solidFill>
                <a:latin typeface="Microsoft Sans Serif"/>
                <a:cs typeface="Microsoft Sans Serif"/>
              </a:rPr>
              <a:t>fast</a:t>
            </a:r>
            <a:r>
              <a:rPr dirty="0" sz="1100" spc="-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4">
                <a:solidFill>
                  <a:srgbClr val="54565A"/>
                </a:solidFill>
                <a:latin typeface="Microsoft Sans Serif"/>
                <a:cs typeface="Microsoft Sans Serif"/>
              </a:rPr>
              <a:t>—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5">
                <a:solidFill>
                  <a:srgbClr val="54565A"/>
                </a:solidFill>
                <a:latin typeface="Microsoft Sans Serif"/>
                <a:cs typeface="Microsoft Sans Serif"/>
              </a:rPr>
              <a:t>not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searched</a:t>
            </a:r>
            <a:r>
              <a:rPr dirty="0" sz="1100" spc="-6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manually.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25823" y="2039111"/>
            <a:ext cx="2289175" cy="1051560"/>
          </a:xfrm>
          <a:custGeom>
            <a:avLst/>
            <a:gdLst/>
            <a:ahLst/>
            <a:cxnLst/>
            <a:rect l="l" t="t" r="r" b="b"/>
            <a:pathLst>
              <a:path w="2289175" h="1051560">
                <a:moveTo>
                  <a:pt x="0" y="127381"/>
                </a:moveTo>
                <a:lnTo>
                  <a:pt x="10009" y="77795"/>
                </a:lnTo>
                <a:lnTo>
                  <a:pt x="37306" y="37306"/>
                </a:lnTo>
                <a:lnTo>
                  <a:pt x="77795" y="10009"/>
                </a:lnTo>
                <a:lnTo>
                  <a:pt x="127380" y="0"/>
                </a:lnTo>
                <a:lnTo>
                  <a:pt x="2161666" y="0"/>
                </a:lnTo>
                <a:lnTo>
                  <a:pt x="2211252" y="10009"/>
                </a:lnTo>
                <a:lnTo>
                  <a:pt x="2251741" y="37306"/>
                </a:lnTo>
                <a:lnTo>
                  <a:pt x="2279038" y="77795"/>
                </a:lnTo>
                <a:lnTo>
                  <a:pt x="2289048" y="127381"/>
                </a:lnTo>
                <a:lnTo>
                  <a:pt x="2289048" y="924179"/>
                </a:lnTo>
                <a:lnTo>
                  <a:pt x="2279038" y="973764"/>
                </a:lnTo>
                <a:lnTo>
                  <a:pt x="2251741" y="1014253"/>
                </a:lnTo>
                <a:lnTo>
                  <a:pt x="2211252" y="1041550"/>
                </a:lnTo>
                <a:lnTo>
                  <a:pt x="2161666" y="1051560"/>
                </a:lnTo>
                <a:lnTo>
                  <a:pt x="127380" y="1051560"/>
                </a:lnTo>
                <a:lnTo>
                  <a:pt x="77795" y="1041550"/>
                </a:lnTo>
                <a:lnTo>
                  <a:pt x="37306" y="1014253"/>
                </a:lnTo>
                <a:lnTo>
                  <a:pt x="10009" y="973764"/>
                </a:lnTo>
                <a:lnTo>
                  <a:pt x="0" y="924179"/>
                </a:lnTo>
                <a:lnTo>
                  <a:pt x="0" y="127381"/>
                </a:lnTo>
                <a:close/>
              </a:path>
            </a:pathLst>
          </a:custGeom>
          <a:ln w="6096">
            <a:solidFill>
              <a:srgbClr val="FF6F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60316" y="2163825"/>
            <a:ext cx="1708785" cy="759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54565A"/>
                </a:solidFill>
                <a:latin typeface="Tahoma"/>
                <a:cs typeface="Tahoma"/>
              </a:rPr>
              <a:t>Delay</a:t>
            </a:r>
            <a:r>
              <a:rPr dirty="0" sz="1350" spc="8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-105">
                <a:solidFill>
                  <a:srgbClr val="54565A"/>
                </a:solidFill>
                <a:latin typeface="Tahoma"/>
                <a:cs typeface="Tahoma"/>
              </a:rPr>
              <a:t>=</a:t>
            </a:r>
            <a:r>
              <a:rPr dirty="0" sz="1350" spc="6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54565A"/>
                </a:solidFill>
                <a:latin typeface="Tahoma"/>
                <a:cs typeface="Tahoma"/>
              </a:rPr>
              <a:t>Risk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65"/>
              </a:spcBef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Manual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calls waste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critical minutes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58128" y="2039111"/>
            <a:ext cx="2289175" cy="1051560"/>
          </a:xfrm>
          <a:custGeom>
            <a:avLst/>
            <a:gdLst/>
            <a:ahLst/>
            <a:cxnLst/>
            <a:rect l="l" t="t" r="r" b="b"/>
            <a:pathLst>
              <a:path w="2289175" h="1051560">
                <a:moveTo>
                  <a:pt x="0" y="127381"/>
                </a:moveTo>
                <a:lnTo>
                  <a:pt x="10009" y="77795"/>
                </a:lnTo>
                <a:lnTo>
                  <a:pt x="37306" y="37306"/>
                </a:lnTo>
                <a:lnTo>
                  <a:pt x="77795" y="10009"/>
                </a:lnTo>
                <a:lnTo>
                  <a:pt x="127381" y="0"/>
                </a:lnTo>
                <a:lnTo>
                  <a:pt x="2161667" y="0"/>
                </a:lnTo>
                <a:lnTo>
                  <a:pt x="2211252" y="10009"/>
                </a:lnTo>
                <a:lnTo>
                  <a:pt x="2251741" y="37306"/>
                </a:lnTo>
                <a:lnTo>
                  <a:pt x="2279038" y="77795"/>
                </a:lnTo>
                <a:lnTo>
                  <a:pt x="2289048" y="127381"/>
                </a:lnTo>
                <a:lnTo>
                  <a:pt x="2289048" y="924179"/>
                </a:lnTo>
                <a:lnTo>
                  <a:pt x="2279038" y="973764"/>
                </a:lnTo>
                <a:lnTo>
                  <a:pt x="2251741" y="1014253"/>
                </a:lnTo>
                <a:lnTo>
                  <a:pt x="2211252" y="1041550"/>
                </a:lnTo>
                <a:lnTo>
                  <a:pt x="2161667" y="1051560"/>
                </a:lnTo>
                <a:lnTo>
                  <a:pt x="127381" y="1051560"/>
                </a:lnTo>
                <a:lnTo>
                  <a:pt x="77795" y="1041550"/>
                </a:lnTo>
                <a:lnTo>
                  <a:pt x="37306" y="1014253"/>
                </a:lnTo>
                <a:lnTo>
                  <a:pt x="10009" y="973764"/>
                </a:lnTo>
                <a:lnTo>
                  <a:pt x="0" y="924179"/>
                </a:lnTo>
                <a:lnTo>
                  <a:pt x="0" y="127381"/>
                </a:lnTo>
                <a:close/>
              </a:path>
            </a:pathLst>
          </a:custGeom>
          <a:ln w="6096">
            <a:solidFill>
              <a:srgbClr val="FF6F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93509" y="2163825"/>
            <a:ext cx="1931035" cy="759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54565A"/>
                </a:solidFill>
                <a:latin typeface="Tahoma"/>
                <a:cs typeface="Tahoma"/>
              </a:rPr>
              <a:t>Fragmented</a:t>
            </a:r>
            <a:r>
              <a:rPr dirty="0" sz="1350" spc="459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54565A"/>
                </a:solidFill>
                <a:latin typeface="Tahoma"/>
                <a:cs typeface="Tahoma"/>
              </a:rPr>
              <a:t>Data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65"/>
              </a:spcBef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Donor</a:t>
            </a:r>
            <a:r>
              <a:rPr dirty="0" sz="1100" spc="-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records,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inventory,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and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locations</a:t>
            </a:r>
            <a:r>
              <a:rPr dirty="0" sz="1100" spc="8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0">
                <a:solidFill>
                  <a:srgbClr val="54565A"/>
                </a:solidFill>
                <a:latin typeface="Microsoft Sans Serif"/>
                <a:cs typeface="Microsoft Sans Serif"/>
              </a:rPr>
              <a:t>scattered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25823" y="3233927"/>
            <a:ext cx="4721860" cy="826135"/>
          </a:xfrm>
          <a:custGeom>
            <a:avLst/>
            <a:gdLst/>
            <a:ahLst/>
            <a:cxnLst/>
            <a:rect l="l" t="t" r="r" b="b"/>
            <a:pathLst>
              <a:path w="4721859" h="826135">
                <a:moveTo>
                  <a:pt x="0" y="127507"/>
                </a:moveTo>
                <a:lnTo>
                  <a:pt x="10029" y="77902"/>
                </a:lnTo>
                <a:lnTo>
                  <a:pt x="37369" y="37369"/>
                </a:lnTo>
                <a:lnTo>
                  <a:pt x="77902" y="10029"/>
                </a:lnTo>
                <a:lnTo>
                  <a:pt x="127508" y="0"/>
                </a:lnTo>
                <a:lnTo>
                  <a:pt x="4593844" y="0"/>
                </a:lnTo>
                <a:lnTo>
                  <a:pt x="4643449" y="10029"/>
                </a:lnTo>
                <a:lnTo>
                  <a:pt x="4683982" y="37369"/>
                </a:lnTo>
                <a:lnTo>
                  <a:pt x="4711322" y="77902"/>
                </a:lnTo>
                <a:lnTo>
                  <a:pt x="4721352" y="127507"/>
                </a:lnTo>
                <a:lnTo>
                  <a:pt x="4721352" y="698474"/>
                </a:lnTo>
                <a:lnTo>
                  <a:pt x="4711322" y="748116"/>
                </a:lnTo>
                <a:lnTo>
                  <a:pt x="4683982" y="788654"/>
                </a:lnTo>
                <a:lnTo>
                  <a:pt x="4643449" y="815985"/>
                </a:lnTo>
                <a:lnTo>
                  <a:pt x="4593844" y="826007"/>
                </a:lnTo>
                <a:lnTo>
                  <a:pt x="127508" y="826007"/>
                </a:lnTo>
                <a:lnTo>
                  <a:pt x="77902" y="815985"/>
                </a:lnTo>
                <a:lnTo>
                  <a:pt x="37369" y="788654"/>
                </a:lnTo>
                <a:lnTo>
                  <a:pt x="10029" y="748116"/>
                </a:lnTo>
                <a:lnTo>
                  <a:pt x="0" y="698474"/>
                </a:lnTo>
                <a:lnTo>
                  <a:pt x="0" y="127507"/>
                </a:lnTo>
                <a:close/>
              </a:path>
            </a:pathLst>
          </a:custGeom>
          <a:ln w="6096">
            <a:solidFill>
              <a:srgbClr val="FF6F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60316" y="3358972"/>
            <a:ext cx="2167890" cy="537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75">
                <a:solidFill>
                  <a:srgbClr val="54565A"/>
                </a:solidFill>
                <a:latin typeface="Tahoma"/>
                <a:cs typeface="Tahoma"/>
              </a:rPr>
              <a:t>Need</a:t>
            </a:r>
            <a:r>
              <a:rPr dirty="0" sz="1350" spc="-4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54565A"/>
                </a:solidFill>
                <a:latin typeface="Tahoma"/>
                <a:cs typeface="Tahoma"/>
              </a:rPr>
              <a:t>for</a:t>
            </a:r>
            <a:r>
              <a:rPr dirty="0" sz="1350" spc="-5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54565A"/>
                </a:solidFill>
                <a:latin typeface="Tahoma"/>
                <a:cs typeface="Tahoma"/>
              </a:rPr>
              <a:t>automation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Fast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matching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+</a:t>
            </a:r>
            <a:r>
              <a:rPr dirty="0" sz="1100" spc="3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verified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eligibility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5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965" rIns="0" bIns="0" rtlCol="0" vert="horz">
            <a:spAutoFit/>
          </a:bodyPr>
          <a:lstStyle/>
          <a:p>
            <a:pPr marL="3442335">
              <a:lnSpc>
                <a:spcPct val="100000"/>
              </a:lnSpc>
              <a:spcBef>
                <a:spcPts val="110"/>
              </a:spcBef>
            </a:pPr>
            <a:r>
              <a:rPr dirty="0" spc="135"/>
              <a:t>Core</a:t>
            </a:r>
            <a:r>
              <a:rPr dirty="0" spc="-80"/>
              <a:t> </a:t>
            </a:r>
            <a:r>
              <a:rPr dirty="0" spc="95"/>
              <a:t>Workflow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2128" y="1545632"/>
            <a:ext cx="4559204" cy="1223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93863" y="3096260"/>
            <a:ext cx="3892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45">
                <a:solidFill>
                  <a:srgbClr val="54565A"/>
                </a:solidFill>
                <a:latin typeface="Tahoma"/>
                <a:cs typeface="Tahoma"/>
              </a:rPr>
              <a:t>Track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6992" y="3096260"/>
            <a:ext cx="40576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40">
                <a:solidFill>
                  <a:srgbClr val="54565A"/>
                </a:solidFill>
                <a:latin typeface="Tahoma"/>
                <a:cs typeface="Tahoma"/>
              </a:rPr>
              <a:t>Verify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5963" y="3096260"/>
            <a:ext cx="4222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40">
                <a:solidFill>
                  <a:srgbClr val="54565A"/>
                </a:solidFill>
                <a:latin typeface="Tahoma"/>
                <a:cs typeface="Tahoma"/>
              </a:rPr>
              <a:t>Match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8988" y="3096260"/>
            <a:ext cx="5448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35">
                <a:solidFill>
                  <a:srgbClr val="54565A"/>
                </a:solidFill>
                <a:latin typeface="Tahoma"/>
                <a:cs typeface="Tahoma"/>
              </a:rPr>
              <a:t>Request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3759" y="3751275"/>
            <a:ext cx="451104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900"/>
              </a:lnSpc>
              <a:spcBef>
                <a:spcPts val="100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Request</a:t>
            </a:r>
            <a:r>
              <a:rPr dirty="0" sz="1100" spc="10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blood</a:t>
            </a:r>
            <a:r>
              <a:rPr dirty="0" sz="1100" spc="1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Smart</a:t>
            </a:r>
            <a:r>
              <a:rPr dirty="0" sz="1100" spc="114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match</a:t>
            </a:r>
            <a:r>
              <a:rPr dirty="0" sz="1100" spc="16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donors/stock</a:t>
            </a:r>
            <a:r>
              <a:rPr dirty="0" sz="1100" spc="10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Medical</a:t>
            </a:r>
            <a:r>
              <a:rPr dirty="0" sz="1100" spc="13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verification</a:t>
            </a:r>
            <a:r>
              <a:rPr dirty="0" sz="1100" spc="1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→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Track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bag</a:t>
            </a:r>
            <a:r>
              <a:rPr dirty="0" sz="1100" spc="-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80">
                <a:solidFill>
                  <a:srgbClr val="54565A"/>
                </a:solidFill>
                <a:latin typeface="Microsoft Sans Serif"/>
                <a:cs typeface="Microsoft Sans Serif"/>
              </a:rPr>
              <a:t>to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recipient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7170" y="4872814"/>
            <a:ext cx="1015419" cy="196947"/>
          </a:xfrm>
          <a:prstGeom prst="rect">
            <a:avLst/>
          </a:prstGeom>
        </p:spPr>
      </p:pic>
      <p:pic>
        <p:nvPicPr>
          <p:cNvPr id="3" name="object 3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23" y="630935"/>
            <a:ext cx="5821680" cy="3880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50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8431" y="4843271"/>
              <a:ext cx="1072896" cy="2560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5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514" y="551433"/>
            <a:ext cx="3416300" cy="361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05"/>
              <a:t>Location-</a:t>
            </a:r>
            <a:r>
              <a:rPr dirty="0" spc="125"/>
              <a:t>based</a:t>
            </a:r>
            <a:r>
              <a:rPr dirty="0" spc="-45"/>
              <a:t> </a:t>
            </a:r>
            <a:r>
              <a:rPr dirty="0" spc="100"/>
              <a:t>Matching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514" y="1110208"/>
            <a:ext cx="4699635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Google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Maps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API: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lat/long</a:t>
            </a:r>
            <a:r>
              <a:rPr dirty="0" sz="1100" spc="-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proximity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search</a:t>
            </a:r>
            <a:r>
              <a:rPr dirty="0" sz="1100" spc="-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r>
              <a:rPr dirty="0" sz="1100" spc="3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Nearby</a:t>
            </a:r>
            <a:r>
              <a:rPr dirty="0" sz="1100" spc="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donor</a:t>
            </a:r>
            <a:r>
              <a:rPr dirty="0" sz="1100" spc="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0">
                <a:solidFill>
                  <a:srgbClr val="54565A"/>
                </a:solidFill>
                <a:latin typeface="Microsoft Sans Serif"/>
                <a:cs typeface="Microsoft Sans Serif"/>
              </a:rPr>
              <a:t>&amp;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blood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0">
                <a:solidFill>
                  <a:srgbClr val="54565A"/>
                </a:solidFill>
                <a:latin typeface="Microsoft Sans Serif"/>
                <a:cs typeface="Microsoft Sans Serif"/>
              </a:rPr>
              <a:t>center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suggestions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6823" y="1761744"/>
            <a:ext cx="353695" cy="353695"/>
            <a:chOff x="496823" y="1761744"/>
            <a:chExt cx="353695" cy="353695"/>
          </a:xfrm>
        </p:grpSpPr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159" y="1783080"/>
              <a:ext cx="42671" cy="487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174" y="1790446"/>
              <a:ext cx="232067" cy="660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8347" y="1763268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19" h="350519">
                  <a:moveTo>
                    <a:pt x="0" y="0"/>
                  </a:moveTo>
                  <a:lnTo>
                    <a:pt x="350520" y="0"/>
                  </a:lnTo>
                </a:path>
                <a:path w="350519" h="350519">
                  <a:moveTo>
                    <a:pt x="0" y="0"/>
                  </a:moveTo>
                  <a:lnTo>
                    <a:pt x="0" y="350519"/>
                  </a:lnTo>
                </a:path>
                <a:path w="350519" h="350519">
                  <a:moveTo>
                    <a:pt x="0" y="350519"/>
                  </a:moveTo>
                  <a:lnTo>
                    <a:pt x="350520" y="350519"/>
                  </a:lnTo>
                </a:path>
                <a:path w="350519" h="350519">
                  <a:moveTo>
                    <a:pt x="350520" y="350519"/>
                  </a:moveTo>
                  <a:lnTo>
                    <a:pt x="350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83514" y="2272741"/>
            <a:ext cx="1808480" cy="537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55">
                <a:solidFill>
                  <a:srgbClr val="54565A"/>
                </a:solidFill>
                <a:latin typeface="Tahoma"/>
                <a:cs typeface="Tahoma"/>
              </a:rPr>
              <a:t>Emergency</a:t>
            </a:r>
            <a:r>
              <a:rPr dirty="0" sz="1350" spc="3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54565A"/>
                </a:solidFill>
                <a:latin typeface="Tahoma"/>
                <a:cs typeface="Tahoma"/>
              </a:rPr>
              <a:t>Mode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Closest</a:t>
            </a:r>
            <a:r>
              <a:rPr dirty="0" sz="1100" spc="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matches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prioritized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6823" y="3108959"/>
            <a:ext cx="353695" cy="356870"/>
            <a:chOff x="496823" y="3108959"/>
            <a:chExt cx="353695" cy="356870"/>
          </a:xfrm>
        </p:grpSpPr>
        <p:pic>
          <p:nvPicPr>
            <p:cNvPr id="11" name="object 11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159" y="3130295"/>
              <a:ext cx="42671" cy="487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4174" y="3137661"/>
              <a:ext cx="232067" cy="6603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347" y="3110483"/>
              <a:ext cx="350520" cy="353695"/>
            </a:xfrm>
            <a:custGeom>
              <a:avLst/>
              <a:gdLst/>
              <a:ahLst/>
              <a:cxnLst/>
              <a:rect l="l" t="t" r="r" b="b"/>
              <a:pathLst>
                <a:path w="350519" h="353695">
                  <a:moveTo>
                    <a:pt x="0" y="0"/>
                  </a:moveTo>
                  <a:lnTo>
                    <a:pt x="350520" y="0"/>
                  </a:lnTo>
                </a:path>
                <a:path w="350519" h="353695">
                  <a:moveTo>
                    <a:pt x="0" y="0"/>
                  </a:moveTo>
                  <a:lnTo>
                    <a:pt x="0" y="353567"/>
                  </a:lnTo>
                </a:path>
                <a:path w="350519" h="353695">
                  <a:moveTo>
                    <a:pt x="0" y="353567"/>
                  </a:moveTo>
                  <a:lnTo>
                    <a:pt x="350520" y="353567"/>
                  </a:lnTo>
                </a:path>
                <a:path w="350519" h="353695">
                  <a:moveTo>
                    <a:pt x="350520" y="353567"/>
                  </a:moveTo>
                  <a:lnTo>
                    <a:pt x="350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83514" y="3622294"/>
            <a:ext cx="2528570" cy="537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54565A"/>
                </a:solidFill>
                <a:latin typeface="Tahoma"/>
                <a:cs typeface="Tahoma"/>
              </a:rPr>
              <a:t>Route</a:t>
            </a:r>
            <a:r>
              <a:rPr dirty="0" sz="1350" spc="2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54565A"/>
                </a:solidFill>
                <a:latin typeface="Tahoma"/>
                <a:cs typeface="Tahoma"/>
              </a:rPr>
              <a:t>&amp;</a:t>
            </a:r>
            <a:r>
              <a:rPr dirty="0" sz="1350" spc="1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54565A"/>
                </a:solidFill>
                <a:latin typeface="Tahoma"/>
                <a:cs typeface="Tahoma"/>
              </a:rPr>
              <a:t>ETA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Show </a:t>
            </a:r>
            <a:r>
              <a:rPr dirty="0" sz="1100" spc="60">
                <a:solidFill>
                  <a:srgbClr val="54565A"/>
                </a:solidFill>
                <a:latin typeface="Microsoft Sans Serif"/>
                <a:cs typeface="Microsoft Sans Serif"/>
              </a:rPr>
              <a:t>fastest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route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for</a:t>
            </a:r>
            <a:r>
              <a:rPr dirty="0" sz="1100" spc="-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donor</a:t>
            </a:r>
            <a:r>
              <a:rPr dirty="0" sz="1100" spc="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or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courier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514" y="1763394"/>
            <a:ext cx="3879850" cy="361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70"/>
              <a:t>Security:</a:t>
            </a:r>
            <a:r>
              <a:rPr dirty="0" spc="-90"/>
              <a:t> </a:t>
            </a:r>
            <a:r>
              <a:rPr dirty="0" spc="220"/>
              <a:t>JWT</a:t>
            </a:r>
            <a:r>
              <a:rPr dirty="0" spc="-85"/>
              <a:t> </a:t>
            </a:r>
            <a:r>
              <a:rPr dirty="0" spc="60"/>
              <a:t>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514" y="2446731"/>
            <a:ext cx="299339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Stateless</a:t>
            </a:r>
            <a:r>
              <a:rPr dirty="0" sz="1100" spc="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tokens</a:t>
            </a:r>
            <a:r>
              <a:rPr dirty="0" sz="1100" spc="9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for</a:t>
            </a:r>
            <a:r>
              <a:rPr dirty="0" sz="1100" spc="8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React</a:t>
            </a:r>
            <a:r>
              <a:rPr dirty="0" sz="1100" spc="6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6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Spring</a:t>
            </a:r>
            <a:r>
              <a:rPr dirty="0" sz="1100" spc="5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Boot</a:t>
            </a:r>
            <a:r>
              <a:rPr dirty="0" sz="1100" spc="8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APIs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872" y="2819400"/>
            <a:ext cx="487362" cy="487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0059" y="2799588"/>
            <a:ext cx="4002404" cy="5670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70"/>
              </a:spcBef>
            </a:pPr>
            <a:r>
              <a:rPr dirty="0" sz="1350" spc="60">
                <a:solidFill>
                  <a:srgbClr val="54565A"/>
                </a:solidFill>
                <a:latin typeface="Tahoma"/>
                <a:cs typeface="Tahoma"/>
              </a:rPr>
              <a:t>Role-</a:t>
            </a:r>
            <a:r>
              <a:rPr dirty="0" sz="1350" spc="65">
                <a:solidFill>
                  <a:srgbClr val="54565A"/>
                </a:solidFill>
                <a:latin typeface="Tahoma"/>
                <a:cs typeface="Tahoma"/>
              </a:rPr>
              <a:t>based</a:t>
            </a:r>
            <a:r>
              <a:rPr dirty="0" sz="1350" spc="-1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105">
                <a:solidFill>
                  <a:srgbClr val="54565A"/>
                </a:solidFill>
                <a:latin typeface="Tahoma"/>
                <a:cs typeface="Tahoma"/>
              </a:rPr>
              <a:t>Access</a:t>
            </a:r>
            <a:endParaRPr sz="1350">
              <a:latin typeface="Tahoma"/>
              <a:cs typeface="Tahoma"/>
            </a:endParaRPr>
          </a:p>
          <a:p>
            <a:pPr marL="196215">
              <a:lnSpc>
                <a:spcPct val="100000"/>
              </a:lnSpc>
              <a:spcBef>
                <a:spcPts val="1095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Admin,</a:t>
            </a:r>
            <a:r>
              <a:rPr dirty="0" sz="1100" spc="6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Doctor,</a:t>
            </a:r>
            <a:r>
              <a:rPr dirty="0" sz="1100" spc="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Donor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scopes</a:t>
            </a:r>
            <a:r>
              <a:rPr dirty="0" sz="1100" spc="7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enforced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3440" y="2819400"/>
            <a:ext cx="487425" cy="487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43628" y="2799588"/>
            <a:ext cx="4002404" cy="5670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70"/>
              </a:spcBef>
            </a:pPr>
            <a:r>
              <a:rPr dirty="0" sz="1350" spc="70">
                <a:solidFill>
                  <a:srgbClr val="54565A"/>
                </a:solidFill>
                <a:latin typeface="Tahoma"/>
                <a:cs typeface="Tahoma"/>
              </a:rPr>
              <a:t>Secure</a:t>
            </a:r>
            <a:r>
              <a:rPr dirty="0" sz="1350" spc="-3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54565A"/>
                </a:solidFill>
                <a:latin typeface="Tahoma"/>
                <a:cs typeface="Tahoma"/>
              </a:rPr>
              <a:t>Endpoints</a:t>
            </a:r>
            <a:endParaRPr sz="1350">
              <a:latin typeface="Tahoma"/>
              <a:cs typeface="Tahoma"/>
            </a:endParaRPr>
          </a:p>
          <a:p>
            <a:pPr marL="198120">
              <a:lnSpc>
                <a:spcPct val="100000"/>
              </a:lnSpc>
              <a:spcBef>
                <a:spcPts val="1095"/>
              </a:spcBef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Token</a:t>
            </a:r>
            <a:r>
              <a:rPr dirty="0" sz="1100" spc="-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refresh,</a:t>
            </a:r>
            <a:r>
              <a:rPr dirty="0" sz="1100" spc="-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expiry,</a:t>
            </a:r>
            <a:r>
              <a:rPr dirty="0" sz="1100" spc="-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revocation</a:t>
            </a:r>
            <a:r>
              <a:rPr dirty="0" sz="1100" spc="-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flows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5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862" rIns="0" bIns="0" rtlCol="0" vert="horz">
            <a:spAutoFit/>
          </a:bodyPr>
          <a:lstStyle/>
          <a:p>
            <a:pPr marL="3442335">
              <a:lnSpc>
                <a:spcPct val="100000"/>
              </a:lnSpc>
              <a:spcBef>
                <a:spcPts val="110"/>
              </a:spcBef>
            </a:pPr>
            <a:r>
              <a:rPr dirty="0" spc="110"/>
              <a:t>REST</a:t>
            </a:r>
            <a:r>
              <a:rPr dirty="0" spc="-110"/>
              <a:t> </a:t>
            </a:r>
            <a:r>
              <a:rPr dirty="0" spc="80"/>
              <a:t>APIs</a:t>
            </a:r>
            <a:r>
              <a:rPr dirty="0" spc="-105"/>
              <a:t> </a:t>
            </a:r>
            <a:r>
              <a:rPr dirty="0"/>
              <a:t>&amp;</a:t>
            </a:r>
            <a:r>
              <a:rPr dirty="0" spc="-95"/>
              <a:t> </a:t>
            </a:r>
            <a:r>
              <a:rPr dirty="0" spc="40"/>
              <a:t>Data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3516" y="2029001"/>
            <a:ext cx="2852030" cy="10038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47308" y="3230244"/>
            <a:ext cx="393700" cy="29464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 spc="45">
                <a:solidFill>
                  <a:srgbClr val="54565A"/>
                </a:solidFill>
                <a:latin typeface="Tahoma"/>
                <a:cs typeface="Tahoma"/>
              </a:rPr>
              <a:t>MySQL</a:t>
            </a:r>
            <a:endParaRPr sz="85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  <a:spcBef>
                <a:spcPts val="40"/>
              </a:spcBef>
            </a:pPr>
            <a:r>
              <a:rPr dirty="0" sz="850" spc="-10">
                <a:solidFill>
                  <a:srgbClr val="54565A"/>
                </a:solidFill>
                <a:latin typeface="Tahoma"/>
                <a:cs typeface="Tahoma"/>
              </a:rPr>
              <a:t>Persist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0353" y="3307460"/>
            <a:ext cx="621030" cy="153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>
                <a:solidFill>
                  <a:srgbClr val="54565A"/>
                </a:solidFill>
                <a:latin typeface="Tahoma"/>
                <a:cs typeface="Tahoma"/>
              </a:rPr>
              <a:t>Spring</a:t>
            </a:r>
            <a:r>
              <a:rPr dirty="0" sz="850" spc="14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850" spc="-20">
                <a:solidFill>
                  <a:srgbClr val="54565A"/>
                </a:solidFill>
                <a:latin typeface="Tahoma"/>
                <a:cs typeface="Tahoma"/>
              </a:rPr>
              <a:t>Boot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5803" y="3230244"/>
            <a:ext cx="434975" cy="294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960">
              <a:lnSpc>
                <a:spcPct val="103800"/>
              </a:lnSpc>
              <a:spcBef>
                <a:spcPts val="100"/>
              </a:spcBef>
            </a:pPr>
            <a:r>
              <a:rPr dirty="0" sz="850" spc="-10">
                <a:solidFill>
                  <a:srgbClr val="54565A"/>
                </a:solidFill>
                <a:latin typeface="Tahoma"/>
                <a:cs typeface="Tahoma"/>
              </a:rPr>
              <a:t>React Request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4361" y="1495313"/>
            <a:ext cx="1171575" cy="69278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Modules: donors</a:t>
            </a:r>
            <a:r>
              <a:rPr dirty="0" sz="1100" spc="8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blood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r>
              <a:rPr dirty="0" sz="1100" spc="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stock</a:t>
            </a:r>
            <a:r>
              <a:rPr dirty="0" sz="1100" spc="10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requests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r>
              <a:rPr dirty="0" sz="1100" spc="1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35">
                <a:solidFill>
                  <a:srgbClr val="54565A"/>
                </a:solidFill>
                <a:latin typeface="Microsoft Sans Serif"/>
                <a:cs typeface="Microsoft Sans Serif"/>
              </a:rPr>
              <a:t>reports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14361" y="2302375"/>
            <a:ext cx="1434465" cy="20332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535"/>
              </a:spcBef>
              <a:buChar char="•"/>
              <a:tabLst>
                <a:tab pos="356870" algn="l"/>
              </a:tabLst>
            </a:pPr>
            <a:r>
              <a:rPr dirty="0" sz="1100" spc="-65">
                <a:solidFill>
                  <a:srgbClr val="54565A"/>
                </a:solidFill>
                <a:latin typeface="Microsoft Sans Serif"/>
                <a:cs typeface="Microsoft Sans Serif"/>
              </a:rPr>
              <a:t>CRUD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endpoints</a:t>
            </a:r>
            <a:endParaRPr sz="1100">
              <a:latin typeface="Microsoft Sans Serif"/>
              <a:cs typeface="Microsoft Sans Serif"/>
            </a:endParaRPr>
          </a:p>
          <a:p>
            <a:pPr marL="35687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(Spring</a:t>
            </a:r>
            <a:r>
              <a:rPr dirty="0" sz="1100" spc="10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Boot)</a:t>
            </a:r>
            <a:endParaRPr sz="1100">
              <a:latin typeface="Microsoft Sans Serif"/>
              <a:cs typeface="Microsoft Sans Serif"/>
            </a:endParaRPr>
          </a:p>
          <a:p>
            <a:pPr marL="356870" marR="136525" indent="-344805">
              <a:lnSpc>
                <a:spcPct val="132800"/>
              </a:lnSpc>
              <a:buChar char="•"/>
              <a:tabLst>
                <a:tab pos="356870" algn="l"/>
              </a:tabLst>
            </a:pP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Validation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&amp; 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business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rules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(server</a:t>
            </a:r>
            <a:r>
              <a:rPr dirty="0" sz="1100" spc="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side)</a:t>
            </a:r>
            <a:endParaRPr sz="1100">
              <a:latin typeface="Microsoft Sans Serif"/>
              <a:cs typeface="Microsoft Sans Serif"/>
            </a:endParaRPr>
          </a:p>
          <a:p>
            <a:pPr marL="356870" marR="207645" indent="-344805">
              <a:lnSpc>
                <a:spcPct val="132800"/>
              </a:lnSpc>
              <a:spcBef>
                <a:spcPts val="25"/>
              </a:spcBef>
              <a:buChar char="•"/>
              <a:tabLst>
                <a:tab pos="356870" algn="l"/>
              </a:tabLst>
            </a:pP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MySQL</a:t>
            </a:r>
            <a:r>
              <a:rPr dirty="0" sz="1100" spc="-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for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persistent, transactional 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data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20"/>
              <a:t>Cloud</a:t>
            </a:r>
            <a:r>
              <a:rPr dirty="0" spc="-75"/>
              <a:t> </a:t>
            </a:r>
            <a:r>
              <a:rPr dirty="0" spc="90"/>
              <a:t>Storage</a:t>
            </a:r>
            <a:r>
              <a:rPr dirty="0" spc="-105"/>
              <a:t> </a:t>
            </a:r>
            <a:r>
              <a:rPr dirty="0"/>
              <a:t>&amp;</a:t>
            </a:r>
            <a:r>
              <a:rPr dirty="0" spc="-90"/>
              <a:t> </a:t>
            </a:r>
            <a:r>
              <a:rPr dirty="0" spc="105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514" y="2580589"/>
            <a:ext cx="30911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30">
                <a:solidFill>
                  <a:srgbClr val="54565A"/>
                </a:solidFill>
                <a:latin typeface="Microsoft Sans Serif"/>
                <a:cs typeface="Microsoft Sans Serif"/>
              </a:rPr>
              <a:t>Store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30">
                <a:solidFill>
                  <a:srgbClr val="54565A"/>
                </a:solidFill>
                <a:latin typeface="Microsoft Sans Serif"/>
                <a:cs typeface="Microsoft Sans Serif"/>
              </a:rPr>
              <a:t>certificates,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consent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">
                <a:solidFill>
                  <a:srgbClr val="54565A"/>
                </a:solidFill>
                <a:latin typeface="Microsoft Sans Serif"/>
                <a:cs typeface="Microsoft Sans Serif"/>
              </a:rPr>
              <a:t>forms,</a:t>
            </a:r>
            <a:r>
              <a:rPr dirty="0" sz="1100" spc="-4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30">
                <a:solidFill>
                  <a:srgbClr val="54565A"/>
                </a:solidFill>
                <a:latin typeface="Microsoft Sans Serif"/>
                <a:cs typeface="Microsoft Sans Serif"/>
              </a:rPr>
              <a:t>donor</a:t>
            </a:r>
            <a:r>
              <a:rPr dirty="0" sz="1100" spc="1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photos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514" y="2931667"/>
            <a:ext cx="33826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Keep</a:t>
            </a:r>
            <a:r>
              <a:rPr dirty="0" sz="1100" spc="5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React</a:t>
            </a:r>
            <a:r>
              <a:rPr dirty="0" sz="1100" spc="5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UI</a:t>
            </a:r>
            <a:r>
              <a:rPr dirty="0" sz="1100" spc="7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lightweight</a:t>
            </a:r>
            <a:r>
              <a:rPr dirty="0" sz="1100" spc="1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04">
                <a:solidFill>
                  <a:srgbClr val="54565A"/>
                </a:solidFill>
                <a:latin typeface="Microsoft Sans Serif"/>
                <a:cs typeface="Microsoft Sans Serif"/>
              </a:rPr>
              <a:t>—</a:t>
            </a:r>
            <a:r>
              <a:rPr dirty="0" sz="1100" spc="7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serve</a:t>
            </a:r>
            <a:r>
              <a:rPr dirty="0" sz="1100" spc="7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assets</a:t>
            </a:r>
            <a:r>
              <a:rPr dirty="0" sz="1100" spc="7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from</a:t>
            </a:r>
            <a:r>
              <a:rPr dirty="0" sz="1100" spc="6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cloud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8784" y="1847088"/>
            <a:ext cx="819912" cy="10241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38496" y="3027679"/>
            <a:ext cx="131572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70">
                <a:solidFill>
                  <a:srgbClr val="54565A"/>
                </a:solidFill>
                <a:latin typeface="Tahoma"/>
                <a:cs typeface="Tahoma"/>
              </a:rPr>
              <a:t>Secure</a:t>
            </a:r>
            <a:r>
              <a:rPr dirty="0" sz="1350" spc="-1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54565A"/>
                </a:solidFill>
                <a:latin typeface="Tahoma"/>
                <a:cs typeface="Tahoma"/>
              </a:rPr>
              <a:t>Uploads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8496" y="3372732"/>
            <a:ext cx="1392555" cy="47180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Signed</a:t>
            </a:r>
            <a:r>
              <a:rPr dirty="0" sz="1100" spc="-5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4565A"/>
                </a:solidFill>
                <a:latin typeface="Microsoft Sans Serif"/>
                <a:cs typeface="Microsoft Sans Serif"/>
              </a:rPr>
              <a:t>URLs</a:t>
            </a: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54565A"/>
                </a:solidFill>
                <a:latin typeface="Microsoft Sans Serif"/>
                <a:cs typeface="Microsoft Sans Serif"/>
              </a:rPr>
              <a:t>·</a:t>
            </a:r>
            <a:r>
              <a:rPr dirty="0" sz="1100" spc="-3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Access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controls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0943" y="1847088"/>
            <a:ext cx="819911" cy="102412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79514" y="3027679"/>
            <a:ext cx="8731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50">
                <a:solidFill>
                  <a:srgbClr val="54565A"/>
                </a:solidFill>
                <a:latin typeface="Tahoma"/>
                <a:cs typeface="Tahoma"/>
              </a:rPr>
              <a:t>Fast</a:t>
            </a:r>
            <a:r>
              <a:rPr dirty="0" sz="1350" spc="-15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54565A"/>
                </a:solidFill>
                <a:latin typeface="Tahoma"/>
                <a:cs typeface="Tahoma"/>
              </a:rPr>
              <a:t>Fetch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9514" y="3427298"/>
            <a:ext cx="13823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solidFill>
                  <a:srgbClr val="54565A"/>
                </a:solidFill>
                <a:latin typeface="Microsoft Sans Serif"/>
                <a:cs typeface="Microsoft Sans Serif"/>
              </a:rPr>
              <a:t>CDN-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backed</a:t>
            </a:r>
            <a:r>
              <a:rPr dirty="0" sz="1100" spc="9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delivery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5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4"/>
              <a:t>Conclusion</a:t>
            </a:r>
            <a:r>
              <a:rPr dirty="0" spc="-35"/>
              <a:t> </a:t>
            </a:r>
            <a:r>
              <a:rPr dirty="0" spc="200"/>
              <a:t>—</a:t>
            </a:r>
            <a:r>
              <a:rPr dirty="0" spc="-50"/>
              <a:t> </a:t>
            </a:r>
            <a:r>
              <a:rPr dirty="0" spc="85"/>
              <a:t>Time</a:t>
            </a:r>
            <a:r>
              <a:rPr dirty="0" spc="-65"/>
              <a:t> </a:t>
            </a:r>
            <a:r>
              <a:rPr dirty="0" spc="130"/>
              <a:t>Saved</a:t>
            </a:r>
            <a:r>
              <a:rPr dirty="0" spc="-75"/>
              <a:t> </a:t>
            </a:r>
            <a:r>
              <a:rPr dirty="0" spc="-150"/>
              <a:t>=</a:t>
            </a:r>
            <a:r>
              <a:rPr dirty="0" spc="-50"/>
              <a:t> </a:t>
            </a:r>
            <a:r>
              <a:rPr dirty="0" spc="114"/>
              <a:t>Lives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20"/>
              <a:t>Saved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3776" y="2316479"/>
            <a:ext cx="573405" cy="1051560"/>
            <a:chOff x="493776" y="2316479"/>
            <a:chExt cx="573405" cy="1051560"/>
          </a:xfrm>
        </p:grpSpPr>
        <p:sp>
          <p:nvSpPr>
            <p:cNvPr id="5" name="object 5"/>
            <p:cNvSpPr/>
            <p:nvPr/>
          </p:nvSpPr>
          <p:spPr>
            <a:xfrm>
              <a:off x="496824" y="2319527"/>
              <a:ext cx="567055" cy="1045844"/>
            </a:xfrm>
            <a:custGeom>
              <a:avLst/>
              <a:gdLst/>
              <a:ahLst/>
              <a:cxnLst/>
              <a:rect l="l" t="t" r="r" b="b"/>
              <a:pathLst>
                <a:path w="567055" h="1045845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3"/>
                  </a:lnTo>
                  <a:lnTo>
                    <a:pt x="566928" y="762000"/>
                  </a:lnTo>
                  <a:lnTo>
                    <a:pt x="563217" y="807988"/>
                  </a:lnTo>
                  <a:lnTo>
                    <a:pt x="552476" y="851611"/>
                  </a:lnTo>
                  <a:lnTo>
                    <a:pt x="535288" y="892284"/>
                  </a:lnTo>
                  <a:lnTo>
                    <a:pt x="512235" y="929426"/>
                  </a:lnTo>
                  <a:lnTo>
                    <a:pt x="483903" y="962453"/>
                  </a:lnTo>
                  <a:lnTo>
                    <a:pt x="450874" y="990782"/>
                  </a:lnTo>
                  <a:lnTo>
                    <a:pt x="413732" y="1013831"/>
                  </a:lnTo>
                  <a:lnTo>
                    <a:pt x="373060" y="1031016"/>
                  </a:lnTo>
                  <a:lnTo>
                    <a:pt x="329443" y="1041754"/>
                  </a:lnTo>
                  <a:lnTo>
                    <a:pt x="283464" y="1045463"/>
                  </a:lnTo>
                  <a:lnTo>
                    <a:pt x="237484" y="1041754"/>
                  </a:lnTo>
                  <a:lnTo>
                    <a:pt x="193867" y="1031016"/>
                  </a:lnTo>
                  <a:lnTo>
                    <a:pt x="153195" y="1013831"/>
                  </a:lnTo>
                  <a:lnTo>
                    <a:pt x="116053" y="990782"/>
                  </a:lnTo>
                  <a:lnTo>
                    <a:pt x="83024" y="962453"/>
                  </a:lnTo>
                  <a:lnTo>
                    <a:pt x="54692" y="929426"/>
                  </a:lnTo>
                  <a:lnTo>
                    <a:pt x="31639" y="892284"/>
                  </a:lnTo>
                  <a:lnTo>
                    <a:pt x="14451" y="851611"/>
                  </a:lnTo>
                  <a:lnTo>
                    <a:pt x="3710" y="807988"/>
                  </a:lnTo>
                  <a:lnTo>
                    <a:pt x="0" y="762000"/>
                  </a:lnTo>
                  <a:lnTo>
                    <a:pt x="0" y="283463"/>
                  </a:lnTo>
                  <a:close/>
                </a:path>
              </a:pathLst>
            </a:custGeom>
            <a:ln w="6096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2758439"/>
              <a:ext cx="42671" cy="487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958" y="2765805"/>
              <a:ext cx="93586" cy="1633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5132" y="2738627"/>
              <a:ext cx="210820" cy="0"/>
            </a:xfrm>
            <a:custGeom>
              <a:avLst/>
              <a:gdLst/>
              <a:ahLst/>
              <a:cxnLst/>
              <a:rect l="l" t="t" r="r" b="b"/>
              <a:pathLst>
                <a:path w="210819" h="0">
                  <a:moveTo>
                    <a:pt x="0" y="0"/>
                  </a:moveTo>
                  <a:lnTo>
                    <a:pt x="2103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675131" y="2738627"/>
            <a:ext cx="210820" cy="210820"/>
          </a:xfrm>
          <a:custGeom>
            <a:avLst/>
            <a:gdLst/>
            <a:ahLst/>
            <a:cxnLst/>
            <a:rect l="l" t="t" r="r" b="b"/>
            <a:pathLst>
              <a:path w="210819" h="210819">
                <a:moveTo>
                  <a:pt x="0" y="0"/>
                </a:moveTo>
                <a:lnTo>
                  <a:pt x="0" y="210312"/>
                </a:lnTo>
              </a:path>
              <a:path w="210819" h="210819">
                <a:moveTo>
                  <a:pt x="0" y="210312"/>
                </a:moveTo>
                <a:lnTo>
                  <a:pt x="210312" y="210312"/>
                </a:lnTo>
              </a:path>
              <a:path w="210819" h="210819">
                <a:moveTo>
                  <a:pt x="210312" y="210312"/>
                </a:moveTo>
                <a:lnTo>
                  <a:pt x="2103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/>
              <a:t>Stack</a:t>
            </a:r>
            <a:r>
              <a:rPr dirty="0" spc="80"/>
              <a:t> </a:t>
            </a:r>
            <a:r>
              <a:rPr dirty="0"/>
              <a:t>recap:</a:t>
            </a:r>
            <a:r>
              <a:rPr dirty="0" spc="10"/>
              <a:t> </a:t>
            </a:r>
            <a:r>
              <a:rPr dirty="0"/>
              <a:t>HTML/CSS/Bootstrap/React</a:t>
            </a:r>
            <a:r>
              <a:rPr dirty="0" spc="-15"/>
              <a:t> </a:t>
            </a:r>
            <a:r>
              <a:rPr dirty="0" spc="-60"/>
              <a:t>·</a:t>
            </a:r>
            <a:r>
              <a:rPr dirty="0" spc="65"/>
              <a:t> </a:t>
            </a:r>
            <a:r>
              <a:rPr dirty="0" spc="-20"/>
              <a:t>Java</a:t>
            </a:r>
            <a:r>
              <a:rPr dirty="0" spc="60"/>
              <a:t> </a:t>
            </a:r>
            <a:r>
              <a:rPr dirty="0"/>
              <a:t>Spring</a:t>
            </a:r>
            <a:r>
              <a:rPr dirty="0" spc="75"/>
              <a:t> </a:t>
            </a:r>
            <a:r>
              <a:rPr dirty="0"/>
              <a:t>Boot</a:t>
            </a:r>
            <a:r>
              <a:rPr dirty="0" spc="65"/>
              <a:t> </a:t>
            </a:r>
            <a:r>
              <a:rPr dirty="0" spc="-60"/>
              <a:t>·</a:t>
            </a:r>
            <a:r>
              <a:rPr dirty="0" spc="25"/>
              <a:t> </a:t>
            </a:r>
            <a:r>
              <a:rPr dirty="0" spc="-40"/>
              <a:t>MySQL</a:t>
            </a:r>
            <a:r>
              <a:rPr dirty="0" spc="55"/>
              <a:t> </a:t>
            </a:r>
            <a:r>
              <a:rPr dirty="0" spc="-50"/>
              <a:t>·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35"/>
              <a:t>JWT</a:t>
            </a:r>
            <a:r>
              <a:rPr dirty="0" spc="-30"/>
              <a:t> </a:t>
            </a:r>
            <a:r>
              <a:rPr dirty="0" spc="-60"/>
              <a:t>· </a:t>
            </a:r>
            <a:r>
              <a:rPr dirty="0" spc="-85"/>
              <a:t>REST</a:t>
            </a:r>
            <a:r>
              <a:rPr dirty="0" spc="-25"/>
              <a:t> </a:t>
            </a:r>
            <a:r>
              <a:rPr dirty="0" spc="-60"/>
              <a:t>· </a:t>
            </a:r>
            <a:r>
              <a:rPr dirty="0"/>
              <a:t>Google</a:t>
            </a:r>
            <a:r>
              <a:rPr dirty="0" spc="-15"/>
              <a:t> </a:t>
            </a:r>
            <a:r>
              <a:rPr dirty="0"/>
              <a:t>Maps</a:t>
            </a:r>
            <a:r>
              <a:rPr dirty="0" spc="-75"/>
              <a:t> </a:t>
            </a:r>
            <a:r>
              <a:rPr dirty="0" spc="-60"/>
              <a:t>·</a:t>
            </a:r>
            <a:r>
              <a:rPr dirty="0" spc="-30"/>
              <a:t> </a:t>
            </a:r>
            <a:r>
              <a:rPr dirty="0"/>
              <a:t>Cloud</a:t>
            </a:r>
            <a:r>
              <a:rPr dirty="0" spc="-50"/>
              <a:t> </a:t>
            </a:r>
            <a:r>
              <a:rPr dirty="0" spc="-10"/>
              <a:t>Storage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5"/>
              </a:spcBef>
            </a:pPr>
          </a:p>
          <a:p>
            <a:pPr marL="721360">
              <a:lnSpc>
                <a:spcPct val="100000"/>
              </a:lnSpc>
            </a:pPr>
            <a:r>
              <a:rPr dirty="0" sz="1350" spc="50">
                <a:latin typeface="Tahoma"/>
                <a:cs typeface="Tahoma"/>
              </a:rPr>
              <a:t>Demo</a:t>
            </a:r>
            <a:r>
              <a:rPr dirty="0" sz="1350" spc="-35">
                <a:latin typeface="Tahoma"/>
                <a:cs typeface="Tahoma"/>
              </a:rPr>
              <a:t> </a:t>
            </a:r>
            <a:r>
              <a:rPr dirty="0" sz="1350" spc="45">
                <a:latin typeface="Tahoma"/>
                <a:cs typeface="Tahoma"/>
              </a:rPr>
              <a:t>Flow</a:t>
            </a:r>
            <a:endParaRPr sz="1350">
              <a:latin typeface="Tahoma"/>
              <a:cs typeface="Tahoma"/>
            </a:endParaRPr>
          </a:p>
          <a:p>
            <a:pPr marL="721360">
              <a:lnSpc>
                <a:spcPct val="100000"/>
              </a:lnSpc>
              <a:spcBef>
                <a:spcPts val="1090"/>
              </a:spcBef>
            </a:pPr>
            <a:r>
              <a:rPr dirty="0" spc="10"/>
              <a:t>Urgent</a:t>
            </a:r>
            <a:r>
              <a:rPr dirty="0" spc="-30"/>
              <a:t> </a:t>
            </a:r>
            <a:r>
              <a:rPr dirty="0" spc="45"/>
              <a:t>request</a:t>
            </a:r>
            <a:r>
              <a:rPr dirty="0" spc="-25"/>
              <a:t> </a:t>
            </a:r>
            <a:r>
              <a:rPr dirty="0"/>
              <a:t>→</a:t>
            </a:r>
            <a:r>
              <a:rPr dirty="0" spc="-10"/>
              <a:t> </a:t>
            </a:r>
            <a:r>
              <a:rPr dirty="0" spc="10"/>
              <a:t>Map</a:t>
            </a:r>
            <a:r>
              <a:rPr dirty="0" spc="-20"/>
              <a:t> </a:t>
            </a:r>
            <a:r>
              <a:rPr dirty="0" spc="10"/>
              <a:t>match</a:t>
            </a:r>
            <a:r>
              <a:rPr dirty="0" spc="-10"/>
              <a:t> </a:t>
            </a:r>
            <a:r>
              <a:rPr dirty="0" spc="10"/>
              <a:t>→</a:t>
            </a:r>
            <a:r>
              <a:rPr dirty="0" spc="20"/>
              <a:t> </a:t>
            </a:r>
            <a:r>
              <a:rPr dirty="0" spc="10"/>
              <a:t>Secure</a:t>
            </a:r>
            <a:r>
              <a:rPr dirty="0" spc="-40"/>
              <a:t> </a:t>
            </a:r>
            <a:r>
              <a:rPr dirty="0" spc="10"/>
              <a:t>update</a:t>
            </a:r>
            <a:r>
              <a:rPr dirty="0"/>
              <a:t> </a:t>
            </a:r>
            <a:r>
              <a:rPr dirty="0" spc="10"/>
              <a:t>→</a:t>
            </a:r>
            <a:r>
              <a:rPr dirty="0" spc="20"/>
              <a:t> </a:t>
            </a:r>
            <a:r>
              <a:rPr dirty="0" spc="-10"/>
              <a:t>Inventory</a:t>
            </a:r>
          </a:p>
          <a:p>
            <a:pPr marL="72136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confirm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93776" y="3502152"/>
            <a:ext cx="573405" cy="856615"/>
            <a:chOff x="493776" y="3502152"/>
            <a:chExt cx="573405" cy="856615"/>
          </a:xfrm>
        </p:grpSpPr>
        <p:sp>
          <p:nvSpPr>
            <p:cNvPr id="12" name="object 12"/>
            <p:cNvSpPr/>
            <p:nvPr/>
          </p:nvSpPr>
          <p:spPr>
            <a:xfrm>
              <a:off x="496824" y="3505200"/>
              <a:ext cx="567055" cy="850900"/>
            </a:xfrm>
            <a:custGeom>
              <a:avLst/>
              <a:gdLst/>
              <a:ahLst/>
              <a:cxnLst/>
              <a:rect l="l" t="t" r="r" b="b"/>
              <a:pathLst>
                <a:path w="567055" h="850900">
                  <a:moveTo>
                    <a:pt x="0" y="283464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8" y="283464"/>
                  </a:lnTo>
                  <a:lnTo>
                    <a:pt x="566928" y="566928"/>
                  </a:lnTo>
                  <a:lnTo>
                    <a:pt x="563217" y="612907"/>
                  </a:lnTo>
                  <a:lnTo>
                    <a:pt x="552476" y="656524"/>
                  </a:lnTo>
                  <a:lnTo>
                    <a:pt x="535288" y="697196"/>
                  </a:lnTo>
                  <a:lnTo>
                    <a:pt x="512235" y="734338"/>
                  </a:lnTo>
                  <a:lnTo>
                    <a:pt x="483903" y="767367"/>
                  </a:lnTo>
                  <a:lnTo>
                    <a:pt x="450874" y="795699"/>
                  </a:lnTo>
                  <a:lnTo>
                    <a:pt x="413732" y="818752"/>
                  </a:lnTo>
                  <a:lnTo>
                    <a:pt x="373060" y="835940"/>
                  </a:lnTo>
                  <a:lnTo>
                    <a:pt x="329443" y="846681"/>
                  </a:lnTo>
                  <a:lnTo>
                    <a:pt x="283464" y="850392"/>
                  </a:lnTo>
                  <a:lnTo>
                    <a:pt x="237484" y="846681"/>
                  </a:lnTo>
                  <a:lnTo>
                    <a:pt x="193867" y="835940"/>
                  </a:lnTo>
                  <a:lnTo>
                    <a:pt x="153195" y="818752"/>
                  </a:lnTo>
                  <a:lnTo>
                    <a:pt x="116053" y="795699"/>
                  </a:lnTo>
                  <a:lnTo>
                    <a:pt x="83024" y="767367"/>
                  </a:lnTo>
                  <a:lnTo>
                    <a:pt x="54692" y="734338"/>
                  </a:lnTo>
                  <a:lnTo>
                    <a:pt x="31639" y="697196"/>
                  </a:lnTo>
                  <a:lnTo>
                    <a:pt x="14451" y="656524"/>
                  </a:lnTo>
                  <a:lnTo>
                    <a:pt x="3710" y="612907"/>
                  </a:lnTo>
                  <a:lnTo>
                    <a:pt x="0" y="566928"/>
                  </a:lnTo>
                  <a:lnTo>
                    <a:pt x="0" y="283464"/>
                  </a:lnTo>
                  <a:close/>
                </a:path>
              </a:pathLst>
            </a:custGeom>
            <a:ln w="6096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3846576"/>
              <a:ext cx="42671" cy="487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958" y="3853942"/>
              <a:ext cx="93586" cy="1633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5132" y="3826764"/>
              <a:ext cx="210820" cy="210820"/>
            </a:xfrm>
            <a:custGeom>
              <a:avLst/>
              <a:gdLst/>
              <a:ahLst/>
              <a:cxnLst/>
              <a:rect l="l" t="t" r="r" b="b"/>
              <a:pathLst>
                <a:path w="210819" h="210820">
                  <a:moveTo>
                    <a:pt x="0" y="0"/>
                  </a:moveTo>
                  <a:lnTo>
                    <a:pt x="210312" y="0"/>
                  </a:lnTo>
                </a:path>
                <a:path w="210819" h="210820">
                  <a:moveTo>
                    <a:pt x="0" y="0"/>
                  </a:moveTo>
                  <a:lnTo>
                    <a:pt x="0" y="210312"/>
                  </a:lnTo>
                </a:path>
                <a:path w="210819" h="210820">
                  <a:moveTo>
                    <a:pt x="0" y="210312"/>
                  </a:moveTo>
                  <a:lnTo>
                    <a:pt x="210312" y="210312"/>
                  </a:lnTo>
                </a:path>
                <a:path w="210819" h="210820">
                  <a:moveTo>
                    <a:pt x="210312" y="210312"/>
                  </a:moveTo>
                  <a:lnTo>
                    <a:pt x="2103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192783" y="3628085"/>
            <a:ext cx="2360930" cy="537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55">
                <a:solidFill>
                  <a:srgbClr val="54565A"/>
                </a:solidFill>
                <a:latin typeface="Tahoma"/>
                <a:cs typeface="Tahoma"/>
              </a:rPr>
              <a:t>Next</a:t>
            </a:r>
            <a:r>
              <a:rPr dirty="0" sz="1350" spc="-40">
                <a:solidFill>
                  <a:srgbClr val="54565A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54565A"/>
                </a:solidFill>
                <a:latin typeface="Tahoma"/>
                <a:cs typeface="Tahoma"/>
              </a:rPr>
              <a:t>Steps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Live</a:t>
            </a:r>
            <a:r>
              <a:rPr dirty="0" sz="1100" spc="10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demo,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4565A"/>
                </a:solidFill>
                <a:latin typeface="Microsoft Sans Serif"/>
                <a:cs typeface="Microsoft Sans Serif"/>
              </a:rPr>
              <a:t>user</a:t>
            </a:r>
            <a:r>
              <a:rPr dirty="0" sz="1100" spc="-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5">
                <a:solidFill>
                  <a:srgbClr val="54565A"/>
                </a:solidFill>
                <a:latin typeface="Microsoft Sans Serif"/>
                <a:cs typeface="Microsoft Sans Serif"/>
              </a:rPr>
              <a:t>testing,</a:t>
            </a:r>
            <a:r>
              <a:rPr dirty="0" sz="1100" spc="-25">
                <a:solidFill>
                  <a:srgbClr val="54565A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4565A"/>
                </a:solidFill>
                <a:latin typeface="Microsoft Sans Serif"/>
                <a:cs typeface="Microsoft Sans Serif"/>
              </a:rPr>
              <a:t>deployment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2026-06-13T07:20:37Z</dcterms:created>
  <dcterms:modified xsi:type="dcterms:W3CDTF">2026-06-13T07:20:37Z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2026-06-13T00:00:00Z</vt:filetime>
  </property>
  <property fmtid="{D5CDD505-2E9C-101B-9397-08002B2CF9AE}" pid="6" name="Producer">
    <vt:lpwstr>www.ilovepdf.com</vt:lpwstr>
  </property>
</Properties>
</file>